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f085ab20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f085ab20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fd12a3b0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fd12a3b0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fd12a3b0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fd12a3b0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f085ab2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f085ab2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f085ab20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f085ab20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fd12a3b0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fd12a3b0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f085ab20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f085ab20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f085ab202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f085ab202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41100"/>
            <a:ext cx="8520600" cy="15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980">
                <a:solidFill>
                  <a:schemeClr val="dk2"/>
                </a:solidFill>
              </a:rPr>
              <a:t>Proyecto: </a:t>
            </a:r>
            <a:r>
              <a:rPr b="1" lang="es" sz="3980">
                <a:solidFill>
                  <a:schemeClr val="dk2"/>
                </a:solidFill>
              </a:rPr>
              <a:t>Instagram - Lite Test</a:t>
            </a:r>
            <a:endParaRPr b="1" sz="398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23"/>
              <a:t>Gineska Espinoza.</a:t>
            </a:r>
            <a:endParaRPr sz="101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123">
                <a:highlight>
                  <a:schemeClr val="lt1"/>
                </a:highlight>
              </a:rPr>
              <a:t>Estudiante deTesting QA</a:t>
            </a:r>
            <a:r>
              <a:rPr lang="es" sz="10123">
                <a:highlight>
                  <a:schemeClr val="lt1"/>
                </a:highlight>
              </a:rPr>
              <a:t>.</a:t>
            </a:r>
            <a:endParaRPr sz="10123">
              <a:highlight>
                <a:schemeClr val="lt1"/>
              </a:highlight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7975" y="2300950"/>
            <a:ext cx="4107675" cy="306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0" y="0"/>
            <a:ext cx="8321100" cy="53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276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476"/>
              <a:t>ALCANCE</a:t>
            </a:r>
            <a:r>
              <a:rPr b="1" lang="es" sz="11476">
                <a:solidFill>
                  <a:srgbClr val="666666"/>
                </a:solidFill>
                <a:highlight>
                  <a:schemeClr val="dk2"/>
                </a:highlight>
              </a:rPr>
              <a:t> </a:t>
            </a:r>
            <a:endParaRPr b="1" sz="11476">
              <a:solidFill>
                <a:srgbClr val="666666"/>
              </a:solidFill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279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4279"/>
              <a:t>LA PRUEBAS SE LIMITARON A LOS MÓDULOS:</a:t>
            </a:r>
            <a:endParaRPr b="1" sz="4279"/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s" sz="4452">
                <a:solidFill>
                  <a:srgbClr val="1F2328"/>
                </a:solidFill>
                <a:highlight>
                  <a:srgbClr val="FFFFFF"/>
                </a:highlight>
              </a:rPr>
              <a:t>💬</a:t>
            </a:r>
            <a:r>
              <a:rPr b="1" lang="es" sz="4452">
                <a:solidFill>
                  <a:srgbClr val="1F2328"/>
                </a:solidFill>
                <a:highlight>
                  <a:srgbClr val="FFFFFF"/>
                </a:highlight>
              </a:rPr>
              <a:t> Registro de Usuario 💬  Inicio de sesión 💬  Navegación  💬  Perfil de usuario </a:t>
            </a:r>
            <a:endParaRPr b="1" sz="4452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4452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s" sz="4452">
                <a:solidFill>
                  <a:srgbClr val="1F2328"/>
                </a:solidFill>
                <a:highlight>
                  <a:srgbClr val="FFFFFF"/>
                </a:highlight>
              </a:rPr>
              <a:t>DURACIÓN: 2 semanas  de pruebas y recopilación de resultados.</a:t>
            </a:r>
            <a:endParaRPr b="1" sz="4452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279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44">
                <a:solidFill>
                  <a:schemeClr val="dk1"/>
                </a:solidFill>
              </a:rPr>
              <a:t> </a:t>
            </a:r>
            <a:endParaRPr b="1" sz="3444"/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26440"/>
              <a:buFont typeface="Arial"/>
              <a:buNone/>
            </a:pPr>
            <a:r>
              <a:rPr b="1" lang="es" sz="4160">
                <a:solidFill>
                  <a:srgbClr val="1F2328"/>
                </a:solidFill>
                <a:highlight>
                  <a:srgbClr val="FFFFFF"/>
                </a:highlight>
              </a:rPr>
              <a:t>Entorno de pruebas ⚙️ </a:t>
            </a:r>
            <a:endParaRPr b="1" sz="416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285119" lvl="0" marL="457200" rtl="0" algn="l">
              <a:spcBef>
                <a:spcPts val="1200"/>
              </a:spcBef>
              <a:spcAft>
                <a:spcPts val="0"/>
              </a:spcAft>
              <a:buClr>
                <a:srgbClr val="1F2328"/>
              </a:buClr>
              <a:buSzPct val="100000"/>
              <a:buChar char="●"/>
            </a:pPr>
            <a:r>
              <a:rPr b="1" i="1" lang="es" sz="3560">
                <a:solidFill>
                  <a:srgbClr val="1F2328"/>
                </a:solidFill>
                <a:highlight>
                  <a:srgbClr val="FFFFFF"/>
                </a:highlight>
              </a:rPr>
              <a:t>Dispositivo:</a:t>
            </a:r>
            <a:r>
              <a:rPr b="1" lang="es" sz="3560">
                <a:solidFill>
                  <a:srgbClr val="1F2328"/>
                </a:solidFill>
                <a:highlight>
                  <a:srgbClr val="FFFFFF"/>
                </a:highlight>
              </a:rPr>
              <a:t> Android 10 y 8 / Redes: 3G, 4G, Wifi</a:t>
            </a:r>
            <a:endParaRPr b="1" sz="356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285119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ct val="100000"/>
              <a:buChar char="●"/>
            </a:pPr>
            <a:r>
              <a:rPr b="1" i="1" lang="es" sz="3560">
                <a:solidFill>
                  <a:srgbClr val="1F2328"/>
                </a:solidFill>
                <a:highlight>
                  <a:srgbClr val="FFFFFF"/>
                </a:highlight>
              </a:rPr>
              <a:t>App:</a:t>
            </a:r>
            <a:r>
              <a:rPr b="1" lang="es" sz="3560">
                <a:solidFill>
                  <a:srgbClr val="1F2328"/>
                </a:solidFill>
                <a:highlight>
                  <a:srgbClr val="FFFFFF"/>
                </a:highlight>
              </a:rPr>
              <a:t> Instagram Lite versión Mobile - última actualización disponible.</a:t>
            </a:r>
            <a:endParaRPr b="1" sz="356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285119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ct val="100000"/>
              <a:buChar char="●"/>
            </a:pPr>
            <a:r>
              <a:rPr b="1" i="1" lang="es" sz="3560">
                <a:solidFill>
                  <a:srgbClr val="1F2328"/>
                </a:solidFill>
                <a:highlight>
                  <a:srgbClr val="FFFFFF"/>
                </a:highlight>
              </a:rPr>
              <a:t>Herramientas:</a:t>
            </a:r>
            <a:r>
              <a:rPr b="1" lang="es" sz="3560">
                <a:solidFill>
                  <a:srgbClr val="1F2328"/>
                </a:solidFill>
                <a:highlight>
                  <a:srgbClr val="FFFFFF"/>
                </a:highlight>
              </a:rPr>
              <a:t> Documentos, Postman, Chrome DevTools, dispositivos Android,</a:t>
            </a:r>
            <a:endParaRPr b="1" sz="356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1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15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7575" y="3357175"/>
            <a:ext cx="1905000" cy="15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1AEA4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86975" y="638100"/>
            <a:ext cx="3852000" cy="19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22"/>
              <a:t>TIPOS DE PRUEBAS</a:t>
            </a:r>
            <a:endParaRPr b="1" sz="30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138975" y="388450"/>
            <a:ext cx="4693200" cy="41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507">
                <a:solidFill>
                  <a:schemeClr val="dk1"/>
                </a:solidFill>
                <a:highlight>
                  <a:schemeClr val="lt2"/>
                </a:highlight>
              </a:rPr>
              <a:t>CAJA NEGRA: </a:t>
            </a:r>
            <a:endParaRPr b="1" sz="4507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307">
                <a:solidFill>
                  <a:schemeClr val="dk1"/>
                </a:solidFill>
              </a:rPr>
              <a:t>SUBIR UNA HISTORIA →  APARECE EN EL PERFIL.</a:t>
            </a:r>
            <a:endParaRPr b="1" sz="330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307">
                <a:solidFill>
                  <a:schemeClr val="dk1"/>
                </a:solidFill>
              </a:rPr>
              <a:t>INGRESAR DATOS DE INICIO DE SESIÓN → USUARIO Y CONTRASEÑA → SE VALIDAN CORRECTAMENTE.</a:t>
            </a:r>
            <a:endParaRPr b="1" sz="330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307">
                <a:solidFill>
                  <a:schemeClr val="dk1"/>
                </a:solidFill>
              </a:rPr>
              <a:t>INGRESAR A PANTALLA PRINCIPAL → OBSERVAR EL COMPORTAMIENTO DEL CONTENIDO.</a:t>
            </a:r>
            <a:endParaRPr b="1" sz="330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4507">
                <a:solidFill>
                  <a:schemeClr val="dk1"/>
                </a:solidFill>
                <a:highlight>
                  <a:schemeClr val="lt2"/>
                </a:highlight>
              </a:rPr>
              <a:t>PRUEBA DE VALIDACIÓN:</a:t>
            </a:r>
            <a:endParaRPr b="1" sz="4507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307">
                <a:solidFill>
                  <a:schemeClr val="dk1"/>
                </a:solidFill>
              </a:rPr>
              <a:t>FLUJO DE INFORMACIÓN → DATOS DE REGISTRO/ INICIO DE SESIÓN → COMPROBACIÓN - RECHAZO DE DE DATOS.</a:t>
            </a:r>
            <a:endParaRPr b="1" sz="330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4507">
                <a:solidFill>
                  <a:schemeClr val="dk1"/>
                </a:solidFill>
                <a:highlight>
                  <a:schemeClr val="lt2"/>
                </a:highlight>
              </a:rPr>
              <a:t>PRUEBAS DE SEGURIDAD BÁSICA</a:t>
            </a:r>
            <a:endParaRPr b="1" sz="4507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307">
                <a:solidFill>
                  <a:schemeClr val="dk1"/>
                </a:solidFill>
              </a:rPr>
              <a:t>ACCEDE AL PERFIL DE USUARIO SIN INICIO DE SESION → GARANTIZAR PROTECCION DE DATOS EN LA VALIDADCION DE CUENTAS → CONTRASEÑAS SEGURAS DE ADMINISTRAR.</a:t>
            </a:r>
            <a:endParaRPr b="1" sz="330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4507">
                <a:solidFill>
                  <a:schemeClr val="dk1"/>
                </a:solidFill>
                <a:highlight>
                  <a:schemeClr val="lt2"/>
                </a:highlight>
              </a:rPr>
              <a:t>PRUEBAS DE USABILIDAD</a:t>
            </a:r>
            <a:endParaRPr b="1" sz="4507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307">
                <a:solidFill>
                  <a:schemeClr val="dk1"/>
                </a:solidFill>
              </a:rPr>
              <a:t>REGISTRO DE USUARIO  RAPIDO  Y COHERENTE  → INICIO DE SESION CON BOTON VISIBLE Y ACCESIBLE → NAVEGACION FLUIDA → INTERACCIONES  VALIDAS Y FACILES DE USAR.</a:t>
            </a:r>
            <a:endParaRPr b="1" sz="330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07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07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50" y="3428225"/>
            <a:ext cx="1850224" cy="151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1AEA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86975" y="638100"/>
            <a:ext cx="3852000" cy="22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22"/>
              <a:t>REPORTE DE BUGS </a:t>
            </a:r>
            <a:r>
              <a:rPr b="1" lang="es" sz="3022"/>
              <a:t>CRÍTICOS</a:t>
            </a:r>
            <a:endParaRPr b="1" sz="30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138975" y="388450"/>
            <a:ext cx="4693200" cy="41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534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534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334">
              <a:solidFill>
                <a:schemeClr val="dk1"/>
              </a:solidFill>
            </a:endParaRPr>
          </a:p>
          <a:p>
            <a:pPr indent="-313281" lvl="0" marL="45720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s" sz="5334">
                <a:solidFill>
                  <a:schemeClr val="dk1"/>
                </a:solidFill>
              </a:rPr>
              <a:t>Carga lenta del contenido del feed, las historias y publicaciones.</a:t>
            </a:r>
            <a:endParaRPr b="1" sz="5334">
              <a:solidFill>
                <a:schemeClr val="dk1"/>
              </a:solidFill>
            </a:endParaRPr>
          </a:p>
          <a:p>
            <a:pPr indent="-313281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s" sz="5334">
                <a:solidFill>
                  <a:schemeClr val="dk1"/>
                </a:solidFill>
              </a:rPr>
              <a:t>La App se cierra de forma inesperada, y vuelve a la pantalla de inicio.</a:t>
            </a:r>
            <a:endParaRPr b="1" sz="5334">
              <a:solidFill>
                <a:schemeClr val="dk1"/>
              </a:solidFill>
            </a:endParaRPr>
          </a:p>
          <a:p>
            <a:pPr indent="-313281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s" sz="5334">
                <a:solidFill>
                  <a:schemeClr val="dk1"/>
                </a:solidFill>
              </a:rPr>
              <a:t>Registro múltiple de cuentas a través de número de teléfono móvil existente.</a:t>
            </a:r>
            <a:endParaRPr b="1" sz="5334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334">
                <a:solidFill>
                  <a:schemeClr val="dk1"/>
                </a:solidFill>
              </a:rPr>
              <a:t>   4. Código de verificación enviado a WhatsApp en lugar de correo electrónico al registrar un email.</a:t>
            </a:r>
            <a:endParaRPr b="1" sz="921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484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684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684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57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57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57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57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50" y="3428225"/>
            <a:ext cx="1850224" cy="151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1AEA4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0" y="638100"/>
            <a:ext cx="3852000" cy="39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/>
              <a:t>EJECUCIÓN DE PRUEBAS</a:t>
            </a:r>
            <a:endParaRPr b="1"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highlight>
                  <a:schemeClr val="lt2"/>
                </a:highlight>
              </a:rPr>
              <a:t> CASOS TOTALES:</a:t>
            </a:r>
            <a:endParaRPr b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/>
              <a:t>18 </a:t>
            </a:r>
            <a:endParaRPr b="1"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55"/>
              <a:t>PORCENTAJE DE SEVERIDAD: 7% </a:t>
            </a:r>
            <a:endParaRPr b="1" sz="1255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55"/>
              <a:t> </a:t>
            </a:r>
            <a:endParaRPr b="1" sz="12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4138975" y="388450"/>
            <a:ext cx="4693200" cy="41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07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07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t/>
            </a:r>
            <a:endParaRPr sz="1350">
              <a:solidFill>
                <a:srgbClr val="091E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" name="Google Shape;84;p1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300" y="725925"/>
            <a:ext cx="4445001" cy="35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1AEA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96400"/>
            <a:ext cx="4478400" cy="10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/>
              <a:t>REPORTE DE BUGS SEVEROS</a:t>
            </a:r>
            <a:endParaRPr b="1" sz="2400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3970200" cy="3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44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s" sz="5200"/>
              <a:t>ESTADO: NUEVO</a:t>
            </a:r>
            <a:endParaRPr b="1"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s" sz="5200"/>
              <a:t>FECHA: 31/10/2025</a:t>
            </a:r>
            <a:endParaRPr b="1"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s" sz="5200"/>
              <a:t>ENTORNO: VERSIÓN MOBILE DE SOFTWARE</a:t>
            </a:r>
            <a:endParaRPr b="1" sz="5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5200"/>
              <a:t>Dispositivo Xiaomi-Redmi 8A 3G/ Android 10.</a:t>
            </a:r>
            <a:endParaRPr b="1" sz="5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80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80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44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s" sz="4415"/>
              <a:t>REPORTADO POR: GINESKA ESPINOZA</a:t>
            </a:r>
            <a:endParaRPr b="1" sz="441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b="1"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0100" y="3750"/>
            <a:ext cx="4354001" cy="51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 rotWithShape="1">
          <a:blip r:embed="rId4">
            <a:alphaModFix/>
          </a:blip>
          <a:srcRect b="7005" l="21681" r="28806" t="29421"/>
          <a:stretch/>
        </p:blipFill>
        <p:spPr>
          <a:xfrm>
            <a:off x="4790100" y="939500"/>
            <a:ext cx="4353999" cy="326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1AEA4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96400"/>
            <a:ext cx="4478400" cy="10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/>
              <a:t>REPORTE DE BUGS SEVEROS</a:t>
            </a:r>
            <a:endParaRPr b="1" sz="2400"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3970200" cy="3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0100" y="3750"/>
            <a:ext cx="4354001" cy="51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100" y="1398100"/>
            <a:ext cx="4152900" cy="333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4894075" y="1398100"/>
            <a:ext cx="3000000" cy="20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highlight>
                  <a:schemeClr val="lt1"/>
                </a:highlight>
              </a:rPr>
              <a:t>Evidencia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" sz="1800">
                <a:solidFill>
                  <a:schemeClr val="dk1"/>
                </a:solidFill>
                <a:highlight>
                  <a:schemeClr val="lt1"/>
                </a:highlight>
              </a:rPr>
              <a:t>Se observan dos cuentas creadas con el mismo número de teléfono móvil</a:t>
            </a:r>
            <a:endParaRPr b="1" sz="21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3974700" cy="10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CONCLUSIONES</a:t>
            </a:r>
            <a:endParaRPr b="1"/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4">
            <a:alphaModFix/>
          </a:blip>
          <a:srcRect b="17579" l="0" r="0" t="-17580"/>
          <a:stretch/>
        </p:blipFill>
        <p:spPr>
          <a:xfrm>
            <a:off x="0" y="1071550"/>
            <a:ext cx="4075750" cy="40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4127500" y="520700"/>
            <a:ext cx="4859400" cy="46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La App Instagram Lite cumple con las funcionalidades básicas de registro, inicio de sesión, navegación intuitiva  e interacciones de perfil.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Con la utilización de dispositivos compatibles con la versión Lite, se detectaron bugs críticos, que fueron documentados con el fin de ofrecer mejoras continuas a la experiencia de usuarios con acceso limitado a éste tipo de software.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" sz="1100">
                <a:solidFill>
                  <a:schemeClr val="dk1"/>
                </a:solidFill>
              </a:rPr>
              <a:t>Por otra parte, se evidenciaron errores de mayor escala, como scroll lento e inestable, congelamientos temporales del contenido navegado, más aún cuando la conexión de redes o datos móviles son escasos.</a:t>
            </a:r>
            <a:endParaRPr b="1" sz="196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6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6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60">
              <a:solidFill>
                <a:schemeClr val="dk1"/>
              </a:solidFill>
            </a:endParaRPr>
          </a:p>
          <a:p>
            <a:pPr indent="-30260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❖"/>
            </a:pPr>
            <a:r>
              <a:rPr b="1" lang="es" sz="1260">
                <a:solidFill>
                  <a:schemeClr val="dk1"/>
                </a:solidFill>
                <a:highlight>
                  <a:schemeClr val="lt2"/>
                </a:highlight>
              </a:rPr>
              <a:t>ESTADO DEL SISTEMA:</a:t>
            </a:r>
            <a:r>
              <a:rPr b="1" lang="es" sz="1260">
                <a:solidFill>
                  <a:schemeClr val="dk1"/>
                </a:solidFill>
              </a:rPr>
              <a:t> FUNCIONAL/ REVISAR Y CORREGIR BUGS </a:t>
            </a:r>
            <a:r>
              <a:rPr b="1" lang="es" sz="1260">
                <a:solidFill>
                  <a:schemeClr val="dk1"/>
                </a:solidFill>
              </a:rPr>
              <a:t>CRÍTICOS</a:t>
            </a:r>
            <a:r>
              <a:rPr b="1" lang="es" sz="1260">
                <a:solidFill>
                  <a:schemeClr val="dk1"/>
                </a:solidFill>
              </a:rPr>
              <a:t>.</a:t>
            </a:r>
            <a:endParaRPr b="1" sz="126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3857025"/>
            <a:ext cx="8520600" cy="11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RECOMENDACIONES</a:t>
            </a:r>
            <a:endParaRPr b="1"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4621425" y="263850"/>
            <a:ext cx="4116900" cy="4380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5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50"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00"/>
          </a:p>
          <a:p>
            <a:pPr indent="-292100" lvl="0" marL="914400" rtl="0" algn="just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b="1" lang="es" sz="4000">
                <a:highlight>
                  <a:schemeClr val="lt2"/>
                </a:highlight>
              </a:rPr>
              <a:t>Tomar en cuenta la documentación presentada y los hallazgos críticos de ésta instancia para futuras mejoras del software.</a:t>
            </a:r>
            <a:endParaRPr b="1" sz="4000">
              <a:highlight>
                <a:schemeClr val="lt2"/>
              </a:highlight>
            </a:endParaRPr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highlight>
                <a:schemeClr val="lt2"/>
              </a:highlight>
            </a:endParaRPr>
          </a:p>
          <a:p>
            <a:pPr indent="-292100" lvl="0" marL="914400" rtl="0" algn="just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b="1" lang="es" sz="4000">
                <a:highlight>
                  <a:schemeClr val="lt2"/>
                </a:highlight>
              </a:rPr>
              <a:t>Evaluar los algoritmos débiles para contraseñas, ya que en flujo de registro y login experimentan nivel medio de seguridad.</a:t>
            </a:r>
            <a:endParaRPr b="1" sz="4000">
              <a:highlight>
                <a:schemeClr val="lt2"/>
              </a:highlight>
            </a:endParaRPr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highlight>
                <a:schemeClr val="lt2"/>
              </a:highlight>
            </a:endParaRPr>
          </a:p>
          <a:p>
            <a:pPr indent="-292100" lvl="0" marL="914400" rtl="0" algn="just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b="1" lang="es" sz="4000">
                <a:highlight>
                  <a:schemeClr val="lt2"/>
                </a:highlight>
              </a:rPr>
              <a:t>Evaluar congelamientos y cierres repentinos de pantallas, que aportan una sensación visual no deseada.</a:t>
            </a:r>
            <a:endParaRPr b="1" sz="4000">
              <a:highlight>
                <a:schemeClr val="lt2"/>
              </a:highlight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highlight>
                <a:schemeClr val="lt2"/>
              </a:highlight>
            </a:endParaRPr>
          </a:p>
          <a:p>
            <a:pPr indent="-292100" lvl="0" marL="914400" rtl="0" algn="just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b="1" lang="es" sz="4000">
                <a:highlight>
                  <a:schemeClr val="lt2"/>
                </a:highlight>
              </a:rPr>
              <a:t>Analizar el flujo de inicio de sesión y registro en un nuevo testing para identificar posibles bugs futuros.</a:t>
            </a:r>
            <a:endParaRPr b="1" sz="4000"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27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highlight>
                <a:schemeClr val="lt2"/>
              </a:highlight>
            </a:endParaRPr>
          </a:p>
          <a:p>
            <a:pPr indent="0" lvl="0" marL="914400" rtl="0" algn="l">
              <a:spcBef>
                <a:spcPts val="41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highlight>
                <a:schemeClr val="lt2"/>
              </a:highlight>
            </a:endParaRPr>
          </a:p>
          <a:p>
            <a:pPr indent="0" lvl="0" marL="0" rtl="0" algn="l">
              <a:lnSpc>
                <a:spcPct val="135000"/>
              </a:lnSpc>
              <a:spcBef>
                <a:spcPts val="3400"/>
              </a:spcBef>
              <a:spcAft>
                <a:spcPts val="170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t/>
            </a:r>
            <a:endParaRPr sz="1350">
              <a:solidFill>
                <a:srgbClr val="3F4751"/>
              </a:solidFill>
              <a:highlight>
                <a:schemeClr val="lt2"/>
              </a:highlight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975" y="1130588"/>
            <a:ext cx="4433026" cy="24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